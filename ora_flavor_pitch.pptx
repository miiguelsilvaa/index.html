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3014"/>
            <a:ext cx="8083296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buNone/>
            </a:pPr>
            <a:r>
              <a:rPr lang="en-US" sz="750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🔮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530352" y="1884164"/>
            <a:ext cx="8083296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0"/>
              </a:lnSpc>
              <a:buNone/>
            </a:pPr>
            <a:r>
              <a:rPr lang="en-US" sz="6600" b="1" dirty="0">
                <a:solidFill>
                  <a:srgbClr val="E8A45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Ora Flavor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30352" y="3293864"/>
            <a:ext cx="8083296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Oracle of Flavor</a:t>
            </a:r>
            <a:endParaRPr lang="en-US" sz="1680" dirty="0"/>
          </a:p>
        </p:txBody>
      </p:sp>
      <p:sp>
        <p:nvSpPr>
          <p:cNvPr id="5" name="Text 3"/>
          <p:cNvSpPr/>
          <p:nvPr/>
        </p:nvSpPr>
        <p:spPr>
          <a:xfrm>
            <a:off x="1714500" y="3842593"/>
            <a:ext cx="5715000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GenAI-Powered B2B SaaS · Predicting Viral Flavor Trends · Data-Driven Delight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30352" y="4650135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GROUP D · GENERATIVE AI APPLIED TO MARKETING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99506"/>
            <a:ext cx="2489150" cy="1990279"/>
          </a:xfrm>
          <a:prstGeom prst="roundRect">
            <a:avLst>
              <a:gd name="adj" fmla="val 73509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E8A45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1999506"/>
            <a:ext cx="2489150" cy="1990279"/>
          </a:xfrm>
          <a:prstGeom prst="roundRect">
            <a:avLst>
              <a:gd name="adj" fmla="val 73509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F2C96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999506"/>
            <a:ext cx="2489299" cy="1990279"/>
          </a:xfrm>
          <a:prstGeom prst="roundRect">
            <a:avLst>
              <a:gd name="adj" fmla="val 73509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D4845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96516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A45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963216"/>
            <a:ext cx="808329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60"/>
              </a:lnSpc>
              <a:buNone/>
            </a:pPr>
            <a:r>
              <a:rPr lang="en-US" sz="3840" b="1" dirty="0">
                <a:solidFill>
                  <a:srgbClr val="F0ECE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R&amp;D in Food &amp; Beverage is Broken</a:t>
            </a:r>
            <a:endParaRPr lang="en-US" sz="3840" dirty="0"/>
          </a:p>
        </p:txBody>
      </p:sp>
      <p:sp>
        <p:nvSpPr>
          <p:cNvPr id="7" name="Text 5"/>
          <p:cNvSpPr/>
          <p:nvPr/>
        </p:nvSpPr>
        <p:spPr>
          <a:xfrm>
            <a:off x="838200" y="2256681"/>
            <a:ext cx="207258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E8A45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38200" y="2889052"/>
            <a:ext cx="2072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Failure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8200" y="3178522"/>
            <a:ext cx="203195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of new flavor launches fail on shelves within the first year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3555950" y="2256681"/>
            <a:ext cx="207258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F2C96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 mo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55950" y="2889052"/>
            <a:ext cx="2072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Validation Lag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55950" y="3178522"/>
            <a:ext cx="2031950" cy="58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wait for trend validation in structured R&amp;D cycles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273701" y="2256681"/>
            <a:ext cx="207274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D4845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$M+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73701" y="2889052"/>
            <a:ext cx="20727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Wasted R&amp;D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73701" y="3178522"/>
            <a:ext cx="2032099" cy="58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 failed multi-million dollar launches due to guesswork-based decisions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609600" y="4218384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"Waiting 4 months for trend validation is a luxury FMCG leaders can no longer afford."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24398"/>
            <a:ext cx="3871020" cy="1058912"/>
          </a:xfrm>
          <a:prstGeom prst="roundRect">
            <a:avLst>
              <a:gd name="adj" fmla="val 120894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63380" y="2324398"/>
            <a:ext cx="3871020" cy="1058912"/>
          </a:xfrm>
          <a:prstGeom prst="roundRect">
            <a:avLst>
              <a:gd name="adj" fmla="val 120894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66071"/>
            <a:ext cx="3871020" cy="1058912"/>
          </a:xfrm>
          <a:prstGeom prst="roundRect">
            <a:avLst>
              <a:gd name="adj" fmla="val 120894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3380" y="3566071"/>
            <a:ext cx="3871020" cy="1058912"/>
          </a:xfrm>
          <a:prstGeom prst="roundRect">
            <a:avLst>
              <a:gd name="adj" fmla="val 120894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518517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A45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785217"/>
            <a:ext cx="808329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60"/>
              </a:lnSpc>
              <a:buNone/>
            </a:pPr>
            <a:r>
              <a:rPr lang="en-US" sz="3840" b="1" dirty="0">
                <a:solidFill>
                  <a:srgbClr val="F0ECE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Meet </a:t>
            </a:r>
            <a:pPr indent="0" marL="0">
              <a:lnSpc>
                <a:spcPts val="5760"/>
              </a:lnSpc>
              <a:buNone/>
            </a:pPr>
            <a:r>
              <a:rPr lang="en-US" sz="3840" b="1" i="1" dirty="0">
                <a:solidFill>
                  <a:srgbClr val="F0ECE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Ora Flavor</a:t>
            </a:r>
            <a:endParaRPr lang="en-US" sz="3840" dirty="0"/>
          </a:p>
        </p:txBody>
      </p:sp>
      <p:sp>
        <p:nvSpPr>
          <p:cNvPr id="8" name="Text 6"/>
          <p:cNvSpPr/>
          <p:nvPr/>
        </p:nvSpPr>
        <p:spPr>
          <a:xfrm>
            <a:off x="609600" y="1592907"/>
            <a:ext cx="792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 AI-powered Flavor Intelligence platform that predicts emerging taste trends 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before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they happen — and validates product concepts before a single batch is produced.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7690" y="2522488"/>
            <a:ext cx="28175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🌐</a:t>
            </a:r>
            <a:endParaRPr lang="en-US" sz="2160" dirty="0"/>
          </a:p>
        </p:txBody>
      </p:sp>
      <p:sp>
        <p:nvSpPr>
          <p:cNvPr id="10" name="Text 8"/>
          <p:cNvSpPr/>
          <p:nvPr/>
        </p:nvSpPr>
        <p:spPr>
          <a:xfrm>
            <a:off x="1236315" y="2522488"/>
            <a:ext cx="3107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1M+ Signal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6315" y="2796778"/>
            <a:ext cx="3046214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Scrapes social media, agricultural data &amp; restaurant menus in real-time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4861471" y="2522488"/>
            <a:ext cx="28175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🧠</a:t>
            </a:r>
            <a:endParaRPr lang="en-US" sz="2160" dirty="0"/>
          </a:p>
        </p:txBody>
      </p:sp>
      <p:sp>
        <p:nvSpPr>
          <p:cNvPr id="13" name="Text 11"/>
          <p:cNvSpPr/>
          <p:nvPr/>
        </p:nvSpPr>
        <p:spPr>
          <a:xfrm>
            <a:off x="5290096" y="2522488"/>
            <a:ext cx="3107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Hidden Gem Detection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90096" y="2796778"/>
            <a:ext cx="3046214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Identifies unexplored combos — Pistachio, Biscoff, Miso-Chocolate — before they go viral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07690" y="3764161"/>
            <a:ext cx="28175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🎨</a:t>
            </a:r>
            <a:endParaRPr lang="en-US" sz="2160" dirty="0"/>
          </a:p>
        </p:txBody>
      </p:sp>
      <p:sp>
        <p:nvSpPr>
          <p:cNvPr id="16" name="Text 14"/>
          <p:cNvSpPr/>
          <p:nvPr/>
        </p:nvSpPr>
        <p:spPr>
          <a:xfrm>
            <a:off x="1236315" y="3764161"/>
            <a:ext cx="3107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GenAI Visual Prototypes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6315" y="4038451"/>
            <a:ext cx="3046214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Hyper-realistic mockups &amp; marketing hooks auto-generated with Midjourney + GPT-4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861471" y="3764161"/>
            <a:ext cx="28175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16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⏱️</a:t>
            </a:r>
            <a:endParaRPr lang="en-US" sz="2160" dirty="0"/>
          </a:p>
        </p:txBody>
      </p:sp>
      <p:sp>
        <p:nvSpPr>
          <p:cNvPr id="19" name="Text 17"/>
          <p:cNvSpPr/>
          <p:nvPr/>
        </p:nvSpPr>
        <p:spPr>
          <a:xfrm>
            <a:off x="5290096" y="3764161"/>
            <a:ext cx="3107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48-Hour Sprint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90096" y="4038451"/>
            <a:ext cx="3046214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Compresses months of R&amp;D into 48 hours — validated, data-backed, ready to pitch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39950"/>
            <a:ext cx="2509540" cy="1941463"/>
          </a:xfrm>
          <a:prstGeom prst="roundRect">
            <a:avLst>
              <a:gd name="adj" fmla="val 6593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17230" y="1739950"/>
            <a:ext cx="2509540" cy="1941463"/>
          </a:xfrm>
          <a:prstGeom prst="roundRect">
            <a:avLst>
              <a:gd name="adj" fmla="val 6593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24860" y="1739950"/>
            <a:ext cx="2509540" cy="1941463"/>
          </a:xfrm>
          <a:prstGeom prst="roundRect">
            <a:avLst>
              <a:gd name="adj" fmla="val 6593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910013"/>
            <a:ext cx="7924800" cy="735509"/>
          </a:xfrm>
          <a:prstGeom prst="roundRect">
            <a:avLst>
              <a:gd name="adj" fmla="val 149186"/>
            </a:avLst>
          </a:prstGeom>
          <a:solidFill>
            <a:srgbClr val="E8A45A">
              <a:alpha val="8000"/>
            </a:srgbClr>
          </a:solidFill>
          <a:ln w="9525">
            <a:solidFill>
              <a:srgbClr val="E8A45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497979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A45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 Market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764679"/>
            <a:ext cx="808329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60"/>
              </a:lnSpc>
              <a:buNone/>
            </a:pPr>
            <a:r>
              <a:rPr lang="en-US" sz="3840" b="1" dirty="0">
                <a:solidFill>
                  <a:srgbClr val="F0ECE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Who We Serve</a:t>
            </a:r>
            <a:endParaRPr lang="en-US" sz="3840" dirty="0"/>
          </a:p>
        </p:txBody>
      </p:sp>
      <p:sp>
        <p:nvSpPr>
          <p:cNvPr id="8" name="Text 6"/>
          <p:cNvSpPr/>
          <p:nvPr/>
        </p:nvSpPr>
        <p:spPr>
          <a:xfrm>
            <a:off x="802041" y="1953220"/>
            <a:ext cx="21246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🍔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02041" y="2616101"/>
            <a:ext cx="2124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8A45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Fast-Food Innovators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871" y="2905571"/>
            <a:ext cx="2082998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Burger King, Taco Bell — high-volume cycles, need rapid menu innovation with reduced risk</a:t>
            </a:r>
            <a:endParaRPr lang="en-US" sz="984" dirty="0"/>
          </a:p>
        </p:txBody>
      </p:sp>
      <p:sp>
        <p:nvSpPr>
          <p:cNvPr id="11" name="Text 9"/>
          <p:cNvSpPr/>
          <p:nvPr/>
        </p:nvSpPr>
        <p:spPr>
          <a:xfrm>
            <a:off x="3509671" y="1953220"/>
            <a:ext cx="21246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🏭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09671" y="2616101"/>
            <a:ext cx="2124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2C96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FMCG Leaders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30501" y="2905571"/>
            <a:ext cx="2082998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Nestlé, Unilever — structured R&amp;D, large-scale launches needing data-driven validation</a:t>
            </a:r>
            <a:endParaRPr lang="en-US" sz="984" dirty="0"/>
          </a:p>
        </p:txBody>
      </p:sp>
      <p:sp>
        <p:nvSpPr>
          <p:cNvPr id="14" name="Text 12"/>
          <p:cNvSpPr/>
          <p:nvPr/>
        </p:nvSpPr>
        <p:spPr>
          <a:xfrm>
            <a:off x="6217301" y="1953220"/>
            <a:ext cx="21246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300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✨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17301" y="2616101"/>
            <a:ext cx="2124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Trend-Driven Brands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8131" y="2905571"/>
            <a:ext cx="2082998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Agile boutique brands seeking viral &amp; unique flavor combinations to differentiate</a:t>
            </a:r>
            <a:endParaRPr lang="en-US" sz="984" dirty="0"/>
          </a:p>
        </p:txBody>
      </p:sp>
      <p:sp>
        <p:nvSpPr>
          <p:cNvPr id="17" name="Text 15"/>
          <p:cNvSpPr/>
          <p:nvPr/>
        </p:nvSpPr>
        <p:spPr>
          <a:xfrm>
            <a:off x="609600" y="3910013"/>
            <a:ext cx="7924800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🎯 </a:t>
            </a:r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E8A45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ICP:</a:t>
            </a:r>
            <a:pPr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Mid-to-large F&amp;B companies (100+ employees) · Ages 30–45 · Innovation/Marketing/R&amp;D roles · North America &amp; Western Europe · Using CRM + analytics tools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81770"/>
            <a:ext cx="1878360" cy="2715220"/>
          </a:xfrm>
          <a:prstGeom prst="roundRect">
            <a:avLst>
              <a:gd name="adj" fmla="val 68153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E8A45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25030" y="1781770"/>
            <a:ext cx="1878360" cy="2715220"/>
          </a:xfrm>
          <a:prstGeom prst="roundRect">
            <a:avLst>
              <a:gd name="adj" fmla="val 68153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F2C96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40461" y="1781770"/>
            <a:ext cx="1878360" cy="2715220"/>
          </a:xfrm>
          <a:prstGeom prst="roundRect">
            <a:avLst>
              <a:gd name="adj" fmla="val 68153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D4845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55891" y="1781770"/>
            <a:ext cx="1878509" cy="2715220"/>
          </a:xfrm>
          <a:prstGeom prst="roundRect">
            <a:avLst>
              <a:gd name="adj" fmla="val 68148"/>
            </a:avLst>
          </a:prstGeom>
          <a:solidFill>
            <a:srgbClr val="1A1A2E">
              <a:alpha val="80000"/>
            </a:srgbClr>
          </a:solidFill>
          <a:ln w="28575">
            <a:solidFill>
              <a:srgbClr val="A084C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46509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A45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Go-To-Market Strategy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913209"/>
            <a:ext cx="808329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F0ECE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Funnel-Driven Channel Strategy</a:t>
            </a:r>
            <a:endParaRPr lang="en-US" sz="3360" dirty="0"/>
          </a:p>
        </p:txBody>
      </p:sp>
      <p:sp>
        <p:nvSpPr>
          <p:cNvPr id="8" name="Text 6"/>
          <p:cNvSpPr/>
          <p:nvPr/>
        </p:nvSpPr>
        <p:spPr>
          <a:xfrm>
            <a:off x="777180" y="1977926"/>
            <a:ext cx="1574063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📢</a:t>
            </a:r>
            <a:endParaRPr lang="en-US" sz="1680" dirty="0"/>
          </a:p>
        </p:txBody>
      </p:sp>
      <p:sp>
        <p:nvSpPr>
          <p:cNvPr id="9" name="Text 7"/>
          <p:cNvSpPr/>
          <p:nvPr/>
        </p:nvSpPr>
        <p:spPr>
          <a:xfrm>
            <a:off x="777180" y="2358926"/>
            <a:ext cx="15740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E8A45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TOFU · Awareness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777180" y="2564606"/>
            <a:ext cx="1543199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LinkedIn &amp; Search Ads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77180" y="3021955"/>
            <a:ext cx="154319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"2026 Flavor Horizon" report as lead magnet · AI-synthesized trend content</a:t>
            </a:r>
            <a:endParaRPr lang="en-US" sz="936" dirty="0"/>
          </a:p>
        </p:txBody>
      </p:sp>
      <p:sp>
        <p:nvSpPr>
          <p:cNvPr id="12" name="Text 10"/>
          <p:cNvSpPr/>
          <p:nvPr/>
        </p:nvSpPr>
        <p:spPr>
          <a:xfrm>
            <a:off x="777180" y="3826520"/>
            <a:ext cx="15431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2C96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KPI: 500 quality leads · CTR 1.5%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92611" y="1977926"/>
            <a:ext cx="1574063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💌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2792611" y="2358926"/>
            <a:ext cx="154319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F2C96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MOFU · Consideration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2792611" y="2724596"/>
            <a:ext cx="1543199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Retargeting + Email Nurture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2792611" y="3181945"/>
            <a:ext cx="154319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Personalized "Flavor Gap Analysis" AI emails per sub-sector · CRM triggered</a:t>
            </a:r>
            <a:endParaRPr lang="en-US" sz="936" dirty="0"/>
          </a:p>
        </p:txBody>
      </p:sp>
      <p:sp>
        <p:nvSpPr>
          <p:cNvPr id="17" name="Text 15"/>
          <p:cNvSpPr/>
          <p:nvPr/>
        </p:nvSpPr>
        <p:spPr>
          <a:xfrm>
            <a:off x="2792611" y="3986510"/>
            <a:ext cx="15431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2C96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KPI: 10% Demo Conversion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8041" y="1977926"/>
            <a:ext cx="1574063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🎯</a:t>
            </a:r>
            <a:endParaRPr lang="en-US" sz="1680" dirty="0"/>
          </a:p>
        </p:txBody>
      </p:sp>
      <p:sp>
        <p:nvSpPr>
          <p:cNvPr id="19" name="Text 17"/>
          <p:cNvSpPr/>
          <p:nvPr/>
        </p:nvSpPr>
        <p:spPr>
          <a:xfrm>
            <a:off x="4808041" y="2358926"/>
            <a:ext cx="15740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BOFU · Conversion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4808041" y="2564606"/>
            <a:ext cx="1543199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Live Simulation Demo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4808041" y="3021955"/>
            <a:ext cx="154319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GPT-4 agent predicts market share live from prospect's historical sales data</a:t>
            </a:r>
            <a:endParaRPr lang="en-US" sz="936" dirty="0"/>
          </a:p>
        </p:txBody>
      </p:sp>
      <p:sp>
        <p:nvSpPr>
          <p:cNvPr id="22" name="Text 20"/>
          <p:cNvSpPr/>
          <p:nvPr/>
        </p:nvSpPr>
        <p:spPr>
          <a:xfrm>
            <a:off x="4808041" y="3826520"/>
            <a:ext cx="15740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2C96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KPI: Close in &lt;73 hours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23472" y="1977926"/>
            <a:ext cx="1574215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🔄</a:t>
            </a:r>
            <a:endParaRPr lang="en-US" sz="1680" dirty="0"/>
          </a:p>
        </p:txBody>
      </p:sp>
      <p:sp>
        <p:nvSpPr>
          <p:cNvPr id="24" name="Text 22"/>
          <p:cNvSpPr/>
          <p:nvPr/>
        </p:nvSpPr>
        <p:spPr>
          <a:xfrm>
            <a:off x="6823472" y="2358926"/>
            <a:ext cx="15742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A084C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Loyalty · Retention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6823472" y="2564606"/>
            <a:ext cx="1543348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Monthly NLG Dashboard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823472" y="3021955"/>
            <a:ext cx="154334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NLG summarizes market shifts into 3 Executive Actions monthly · ABM Ads</a:t>
            </a:r>
            <a:endParaRPr lang="en-US" sz="936" dirty="0"/>
          </a:p>
        </p:txBody>
      </p:sp>
      <p:sp>
        <p:nvSpPr>
          <p:cNvPr id="27" name="Text 25"/>
          <p:cNvSpPr/>
          <p:nvPr/>
        </p:nvSpPr>
        <p:spPr>
          <a:xfrm>
            <a:off x="6823472" y="3826520"/>
            <a:ext cx="15742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2C96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KPI: ↓ Churn · ↑ LTV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74788"/>
            <a:ext cx="2489150" cy="2228404"/>
          </a:xfrm>
          <a:prstGeom prst="roundRect">
            <a:avLst>
              <a:gd name="adj" fmla="val 65654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1874788"/>
            <a:ext cx="2489150" cy="2228404"/>
          </a:xfrm>
          <a:prstGeom prst="roundRect">
            <a:avLst>
              <a:gd name="adj" fmla="val 65654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874788"/>
            <a:ext cx="2489299" cy="2228404"/>
          </a:xfrm>
          <a:prstGeom prst="roundRect">
            <a:avLst>
              <a:gd name="adj" fmla="val 65654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0352" y="617488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A45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It Works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0352" y="884188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0ECE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Proof Points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17880" y="2179588"/>
            <a:ext cx="2072589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40"/>
              </a:lnSpc>
              <a:buNone/>
            </a:pPr>
            <a:r>
              <a:rPr lang="en-US" sz="3840" b="1" dirty="0">
                <a:solidFill>
                  <a:srgbClr val="E8A45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10x</a:t>
            </a:r>
            <a:endParaRPr lang="en-US" sz="3840" dirty="0"/>
          </a:p>
        </p:txBody>
      </p:sp>
      <p:sp>
        <p:nvSpPr>
          <p:cNvPr id="8" name="Text 6"/>
          <p:cNvSpPr/>
          <p:nvPr/>
        </p:nvSpPr>
        <p:spPr>
          <a:xfrm>
            <a:off x="817880" y="2743498"/>
            <a:ext cx="2072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Faster Time-to-Market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8200" y="3048298"/>
            <a:ext cx="203195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70% of users accelerate campaign execution &amp; iteration by up to 10x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3535631" y="2179588"/>
            <a:ext cx="2072589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40"/>
              </a:lnSpc>
              <a:buNone/>
            </a:pPr>
            <a:r>
              <a:rPr lang="en-US" sz="3840" b="1" dirty="0">
                <a:solidFill>
                  <a:srgbClr val="F2C96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10h+</a:t>
            </a:r>
            <a:endParaRPr lang="en-US" sz="3840" dirty="0"/>
          </a:p>
        </p:txBody>
      </p:sp>
      <p:sp>
        <p:nvSpPr>
          <p:cNvPr id="11" name="Text 9"/>
          <p:cNvSpPr/>
          <p:nvPr/>
        </p:nvSpPr>
        <p:spPr>
          <a:xfrm>
            <a:off x="3535631" y="2743498"/>
            <a:ext cx="2072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Saved Per Month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55950" y="3048298"/>
            <a:ext cx="203195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90% of users streamline mockup creation &amp; campaign workflows saving 10+ hours monthly</a:t>
            </a:r>
            <a:endParaRPr lang="en-US" sz="984" dirty="0"/>
          </a:p>
        </p:txBody>
      </p:sp>
      <p:sp>
        <p:nvSpPr>
          <p:cNvPr id="13" name="Text 11"/>
          <p:cNvSpPr/>
          <p:nvPr/>
        </p:nvSpPr>
        <p:spPr>
          <a:xfrm>
            <a:off x="6253380" y="2179588"/>
            <a:ext cx="2072741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40"/>
              </a:lnSpc>
              <a:buNone/>
            </a:pPr>
            <a:r>
              <a:rPr lang="en-US" sz="3840" b="1" dirty="0">
                <a:solidFill>
                  <a:srgbClr val="D4845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10x</a:t>
            </a:r>
            <a:endParaRPr lang="en-US" sz="3840" dirty="0"/>
          </a:p>
        </p:txBody>
      </p:sp>
      <p:sp>
        <p:nvSpPr>
          <p:cNvPr id="14" name="Text 12"/>
          <p:cNvSpPr/>
          <p:nvPr/>
        </p:nvSpPr>
        <p:spPr>
          <a:xfrm>
            <a:off x="6253380" y="2743498"/>
            <a:ext cx="20727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Fewer R&amp;D Failures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73701" y="3048298"/>
            <a:ext cx="2032099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Users report up to 10x fewer failures by leveraging predictive insights before launch</a:t>
            </a:r>
            <a:endParaRPr lang="en-US" sz="984" dirty="0"/>
          </a:p>
        </p:txBody>
      </p:sp>
      <p:sp>
        <p:nvSpPr>
          <p:cNvPr id="16" name="Text 14"/>
          <p:cNvSpPr/>
          <p:nvPr/>
        </p:nvSpPr>
        <p:spPr>
          <a:xfrm>
            <a:off x="530352" y="4331791"/>
            <a:ext cx="808329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model: Subscription-based SaaS + optional pilot projects + data consulting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57336"/>
            <a:ext cx="8083296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25"/>
              </a:lnSpc>
              <a:buNone/>
            </a:pPr>
            <a:r>
              <a:rPr lang="en-US" sz="675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🔮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530352" y="1765102"/>
            <a:ext cx="808329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0"/>
              </a:lnSpc>
              <a:buNone/>
            </a:pPr>
            <a:r>
              <a:rPr lang="en-US" sz="5400" b="1" dirty="0">
                <a:solidFill>
                  <a:srgbClr val="E8A45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Ora Flavor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30352" y="2915692"/>
            <a:ext cx="808329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Data-Driven Delight</a:t>
            </a:r>
            <a:endParaRPr lang="en-US" sz="1560" dirty="0"/>
          </a:p>
        </p:txBody>
      </p:sp>
      <p:sp>
        <p:nvSpPr>
          <p:cNvPr id="5" name="Text 3"/>
          <p:cNvSpPr/>
          <p:nvPr/>
        </p:nvSpPr>
        <p:spPr>
          <a:xfrm>
            <a:off x="1809750" y="3441353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0ECE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"Predict the next bestseller. Validate before you bake. Launch with certainty."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95805" y="4203353"/>
            <a:ext cx="8239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Caique Costa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2233224" y="4203353"/>
            <a:ext cx="3962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·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2383625" y="4203353"/>
            <a:ext cx="109360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Catarina Andrade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3588006" y="4203353"/>
            <a:ext cx="3962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·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3741221" y="4203353"/>
            <a:ext cx="8066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Maria Ramos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4661504" y="4203353"/>
            <a:ext cx="3962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·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4815294" y="4203353"/>
            <a:ext cx="74794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Miguel Silva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5677405" y="4203353"/>
            <a:ext cx="3962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·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830462" y="4203353"/>
            <a:ext cx="82263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Nils Calderón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6766529" y="4203353"/>
            <a:ext cx="3962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·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6918528" y="4203353"/>
            <a:ext cx="93056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Rebeca Pereira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530352" y="4614714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B7FA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Group D · GenAI for Marketing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2026-04-06T14:26:40Z</dcterms:created>
  <dcterms:modified xsi:type="dcterms:W3CDTF">2026-04-06T14:26:40Z</dcterms:modified>
</cp:coreProperties>
</file>